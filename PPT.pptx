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7" r:id="rId4"/>
    <p:sldId id="28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90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notesSlide" Target="../notesSlides/notesSlide28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4377" y="763042"/>
            <a:ext cx="4975247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LORSTransformerDRL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7180" y="1525042"/>
            <a:ext cx="8549640" cy="4798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200"/>
              </a:spcBef>
              <a:buNone/>
            </a:pPr>
            <a:r>
              <a:rPr lang="en-US" sz="16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Novel Deep Reinforcement Learning Framework for Intelligent Stock Trading with Chaotic Oscillators and Attention Mechanisms</a:t>
            </a:r>
          </a:p>
        </p:txBody>
      </p:sp>
      <p:sp>
        <p:nvSpPr>
          <p:cNvPr id="4" name="Text 2"/>
          <p:cNvSpPr/>
          <p:nvPr/>
        </p:nvSpPr>
        <p:spPr>
          <a:xfrm>
            <a:off x="4114800" y="2462064"/>
            <a:ext cx="914400" cy="9525"/>
          </a:xfrm>
          <a:prstGeom prst="rect">
            <a:avLst/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0827" y="2928789"/>
            <a:ext cx="520234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Breaking Through Traditional Prediction-Decision Paradigms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2451735" y="3755390"/>
            <a:ext cx="4239895" cy="941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Ziqian LU 22300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26112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lnSpc>
                <a:spcPts val="147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Pengyue MA 2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230026119</a:t>
            </a:r>
            <a:b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</a:b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Zihang ZENG 2230026204</a:t>
            </a:r>
          </a:p>
          <a:p>
            <a:pPr marL="0" indent="0" algn="ctr">
              <a:lnSpc>
                <a:spcPts val="1470"/>
              </a:lnSpc>
              <a:buNone/>
            </a:pP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lnSpc>
                <a:spcPts val="147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Beijing Normal-Hong Kong Baptist University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172960" y="3409950"/>
            <a:ext cx="1631315" cy="1631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Contents</a:t>
            </a:r>
            <a:endParaRPr lang="en-US" altLang="zh-CN" sz="2700" dirty="0"/>
          </a:p>
          <a:p>
            <a:pPr marL="0" indent="0" algn="l">
              <a:lnSpc>
                <a:spcPts val="2700"/>
              </a:lnSpc>
              <a:buNone/>
            </a:pPr>
            <a:endParaRPr lang="en-US" altLang="zh-CN" sz="27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381000" y="1821359"/>
            <a:ext cx="259434" cy="639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825847" y="1922264"/>
            <a:ext cx="2320335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 &amp; Motivation</a:t>
            </a:r>
            <a:endParaRPr lang="en-US" sz="135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825847" y="2200275"/>
            <a:ext cx="232033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background and problem definition</a:t>
            </a:r>
            <a:endParaRPr lang="en-US" sz="9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381000" y="2689920"/>
            <a:ext cx="259434" cy="639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825847" y="2790825"/>
            <a:ext cx="2358134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&amp; Related Work</a:t>
            </a:r>
            <a:endParaRPr lang="en-US" sz="135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825847" y="3068836"/>
            <a:ext cx="235813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DRL, chaos theory, and Transformers</a:t>
            </a:r>
            <a:endParaRPr lang="en-US" sz="9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381000" y="3558480"/>
            <a:ext cx="259434" cy="639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825847" y="3659386"/>
            <a:ext cx="2216045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825847" y="3937397"/>
            <a:ext cx="221604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mechanism and system architecture</a:t>
            </a:r>
            <a:endParaRPr lang="en-US" sz="900" dirty="0"/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857750" y="1821359"/>
            <a:ext cx="259434" cy="639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5302597" y="1922264"/>
            <a:ext cx="1892701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Experimental Setup</a:t>
            </a:r>
            <a:endParaRPr lang="en-US" sz="135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5302597" y="2200275"/>
            <a:ext cx="18927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and evaluation methodology</a:t>
            </a:r>
            <a:endParaRPr lang="en-US" sz="90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4857750" y="2689920"/>
            <a:ext cx="259434" cy="639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5302597" y="2790825"/>
            <a:ext cx="1886021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&amp; Analysis</a:t>
            </a:r>
            <a:endParaRPr lang="en-US" sz="1350" dirty="0"/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5302597" y="3068836"/>
            <a:ext cx="188602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evaluation and insights</a:t>
            </a:r>
            <a:endParaRPr lang="en-US" sz="9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4857750" y="3558480"/>
            <a:ext cx="259434" cy="639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5302597" y="3659386"/>
            <a:ext cx="2202231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Work</a:t>
            </a:r>
            <a:endParaRPr lang="en-US" sz="1350" dirty="0"/>
          </a:p>
        </p:txBody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5302597" y="3937397"/>
            <a:ext cx="220223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 and research directions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37795"/>
            <a:ext cx="5868670" cy="46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zh-CN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Stock Trading is Hard?</a:t>
            </a:r>
            <a:endParaRPr lang="en-US" altLang="zh-CN" sz="2700" dirty="0"/>
          </a:p>
          <a:p>
            <a:pPr marL="0" indent="0" algn="l">
              <a:lnSpc>
                <a:spcPts val="2700"/>
              </a:lnSpc>
              <a:buNone/>
            </a:pPr>
            <a:endParaRPr lang="en-US" altLang="zh-CN" sz="2700" dirty="0"/>
          </a:p>
        </p:txBody>
      </p:sp>
      <p:sp>
        <p:nvSpPr>
          <p:cNvPr id="21" name="Text 1"/>
          <p:cNvSpPr/>
          <p:nvPr/>
        </p:nvSpPr>
        <p:spPr>
          <a:xfrm>
            <a:off x="274320" y="52514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Understanding the challenge before introducing our solution</a:t>
            </a:r>
            <a:endParaRPr lang="en-US" sz="1200" b="1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30" y="998220"/>
            <a:ext cx="6884670" cy="398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785" y="252095"/>
            <a:ext cx="5747385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zh-CN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Stock Trading is Hard?</a:t>
            </a:r>
            <a:endParaRPr lang="en-US" altLang="zh-CN" sz="2700" dirty="0"/>
          </a:p>
          <a:p>
            <a:pPr marL="0" indent="0" algn="l">
              <a:lnSpc>
                <a:spcPts val="2700"/>
              </a:lnSpc>
              <a:buNone/>
            </a:pPr>
            <a:endParaRPr lang="en-US" altLang="zh-CN" sz="27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2380" t="6488" b="10798"/>
          <a:stretch>
            <a:fillRect/>
          </a:stretch>
        </p:blipFill>
        <p:spPr>
          <a:xfrm>
            <a:off x="498475" y="918210"/>
            <a:ext cx="8517255" cy="34245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6750" y="4457700"/>
            <a:ext cx="818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~ Learning to ride a bike, but we do not calculate physics, we learn by doing.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Motivation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9715" y="1447056"/>
            <a:ext cx="2655519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59715" y="2041327"/>
            <a:ext cx="2655519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 Characteristics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471738"/>
            <a:ext cx="2603450" cy="1104900"/>
          </a:xfrm>
          <a:prstGeom prst="rect">
            <a:avLst/>
          </a:prstGeom>
          <a:noFill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Highly non-linear dynamics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Chaotic and uncertain behavior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Complex multi-factor influences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44166" y="1447056"/>
            <a:ext cx="2655519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244166" y="2041327"/>
            <a:ext cx="2655519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Approach Problems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0200" y="2471738"/>
            <a:ext cx="2603450" cy="1104900"/>
          </a:xfrm>
          <a:prstGeom prst="rect">
            <a:avLst/>
          </a:prstGeom>
          <a:noFill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'Predict-then-decide' paradigm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Error accumulation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Poor adaptation to changes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99686" y="1402606"/>
            <a:ext cx="2655519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🎯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060341" y="1990527"/>
            <a:ext cx="2655519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Goal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54651" y="2338388"/>
            <a:ext cx="2603450" cy="1371600"/>
          </a:xfrm>
          <a:prstGeom prst="rect">
            <a:avLst/>
          </a:prstGeom>
          <a:noFill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decision optimization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action learning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prediction step needed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5750" y="3767346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83715" y="4121785"/>
            <a:ext cx="2060575" cy="241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4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</a:t>
            </a:r>
          </a:p>
        </p:txBody>
      </p:sp>
      <p:sp>
        <p:nvSpPr>
          <p:cNvPr id="14" name="Text 12"/>
          <p:cNvSpPr/>
          <p:nvPr/>
        </p:nvSpPr>
        <p:spPr>
          <a:xfrm>
            <a:off x="1163320" y="4382135"/>
            <a:ext cx="3302000" cy="285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 → Decide → Error</a:t>
            </a:r>
          </a:p>
        </p:txBody>
      </p:sp>
      <p:sp>
        <p:nvSpPr>
          <p:cNvPr id="15" name="Text 13"/>
          <p:cNvSpPr/>
          <p:nvPr/>
        </p:nvSpPr>
        <p:spPr>
          <a:xfrm>
            <a:off x="4646930" y="4214495"/>
            <a:ext cx="414655" cy="527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6230" y="4121785"/>
            <a:ext cx="1910080" cy="241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6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Approach</a:t>
            </a:r>
          </a:p>
        </p:txBody>
      </p:sp>
      <p:sp>
        <p:nvSpPr>
          <p:cNvPr id="17" name="Text 15"/>
          <p:cNvSpPr/>
          <p:nvPr/>
        </p:nvSpPr>
        <p:spPr>
          <a:xfrm>
            <a:off x="5243830" y="4382135"/>
            <a:ext cx="2243455" cy="285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Definition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85825"/>
            <a:ext cx="2667000" cy="784622"/>
          </a:xfrm>
          <a:prstGeom prst="roundRect">
            <a:avLst>
              <a:gd name="adj" fmla="val 9712"/>
            </a:avLst>
          </a:prstGeom>
          <a:noFill/>
          <a:ln w="9525">
            <a:solidFill>
              <a:srgbClr val="DDA7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5382" y="933450"/>
            <a:ext cx="246773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</a:t>
            </a:r>
          </a:p>
        </p:txBody>
      </p:sp>
      <p:sp>
        <p:nvSpPr>
          <p:cNvPr id="5" name="Text 3"/>
          <p:cNvSpPr/>
          <p:nvPr/>
        </p:nvSpPr>
        <p:spPr>
          <a:xfrm>
            <a:off x="385382" y="1253430"/>
            <a:ext cx="2467737" cy="2931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Historical market data</a:t>
            </a:r>
            <a:b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</a:b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(120-day window, 10 features)</a:t>
            </a:r>
          </a:p>
        </p:txBody>
      </p:sp>
      <p:sp>
        <p:nvSpPr>
          <p:cNvPr id="6" name="Text 4"/>
          <p:cNvSpPr/>
          <p:nvPr/>
        </p:nvSpPr>
        <p:spPr>
          <a:xfrm>
            <a:off x="3105150" y="877570"/>
            <a:ext cx="2667000" cy="795655"/>
          </a:xfrm>
          <a:prstGeom prst="roundRect">
            <a:avLst>
              <a:gd name="adj" fmla="val 11943"/>
            </a:avLst>
          </a:prstGeom>
          <a:noFill/>
          <a:ln w="9525">
            <a:solidFill>
              <a:srgbClr val="DDA7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04782" y="933648"/>
            <a:ext cx="246773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</a:p>
        </p:txBody>
      </p:sp>
      <p:sp>
        <p:nvSpPr>
          <p:cNvPr id="8" name="Text 6"/>
          <p:cNvSpPr/>
          <p:nvPr/>
        </p:nvSpPr>
        <p:spPr>
          <a:xfrm>
            <a:off x="3204782" y="1326654"/>
            <a:ext cx="2467737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Trading actions {Buy, Hold, Sell}</a:t>
            </a:r>
          </a:p>
        </p:txBody>
      </p:sp>
      <p:sp>
        <p:nvSpPr>
          <p:cNvPr id="9" name="Text 7"/>
          <p:cNvSpPr/>
          <p:nvPr/>
        </p:nvSpPr>
        <p:spPr>
          <a:xfrm>
            <a:off x="5924550" y="886460"/>
            <a:ext cx="2667000" cy="799465"/>
          </a:xfrm>
          <a:prstGeom prst="roundRect">
            <a:avLst>
              <a:gd name="adj" fmla="val 11943"/>
            </a:avLst>
          </a:prstGeom>
          <a:noFill/>
          <a:ln w="9525">
            <a:solidFill>
              <a:srgbClr val="DDA7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24182" y="933648"/>
            <a:ext cx="246773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</a:t>
            </a:r>
          </a:p>
        </p:txBody>
      </p:sp>
      <p:sp>
        <p:nvSpPr>
          <p:cNvPr id="11" name="Text 9"/>
          <p:cNvSpPr/>
          <p:nvPr/>
        </p:nvSpPr>
        <p:spPr>
          <a:xfrm>
            <a:off x="6024182" y="1253629"/>
            <a:ext cx="2467737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Maximize risk-adjusted returns (Sharpe ratio)</a:t>
            </a:r>
          </a:p>
        </p:txBody>
      </p:sp>
      <p:sp>
        <p:nvSpPr>
          <p:cNvPr id="12" name="Text 10"/>
          <p:cNvSpPr/>
          <p:nvPr/>
        </p:nvSpPr>
        <p:spPr>
          <a:xfrm>
            <a:off x="460375" y="2215862"/>
            <a:ext cx="388620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Challenges:</a:t>
            </a:r>
          </a:p>
        </p:txBody>
      </p:sp>
      <p:sp>
        <p:nvSpPr>
          <p:cNvPr id="13" name="Text 11"/>
          <p:cNvSpPr/>
          <p:nvPr/>
        </p:nvSpPr>
        <p:spPr>
          <a:xfrm>
            <a:off x="923290" y="2730758"/>
            <a:ext cx="102165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8701" y="2764095"/>
            <a:ext cx="138992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Non-stationary dynamics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23290" y="3065919"/>
            <a:ext cx="45541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63188" y="3099256"/>
            <a:ext cx="1368975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signal-to-noise ratio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23290" y="3401080"/>
            <a:ext cx="97307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13939" y="3434417"/>
            <a:ext cx="173649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 costs and slippage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514725" y="2256155"/>
            <a:ext cx="1702435" cy="422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Solution</a:t>
            </a:r>
            <a:r>
              <a:rPr lang="en-US" altLang="zh-CN" sz="1600" b="1" dirty="0">
                <a:solidFill>
                  <a:srgbClr val="EAEAEA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:</a:t>
            </a:r>
          </a:p>
        </p:txBody>
      </p:sp>
      <p:sp>
        <p:nvSpPr>
          <p:cNvPr id="20" name="Text 18"/>
          <p:cNvSpPr/>
          <p:nvPr/>
        </p:nvSpPr>
        <p:spPr>
          <a:xfrm>
            <a:off x="4831665" y="2549208"/>
            <a:ext cx="698599" cy="274290"/>
          </a:xfrm>
          <a:prstGeom prst="roundRect">
            <a:avLst>
              <a:gd name="adj" fmla="val 55562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2165" y="2606358"/>
            <a:ext cx="32395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5535" y="2852073"/>
            <a:ext cx="704677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Chaotic Dynamics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152390" y="3000603"/>
            <a:ext cx="58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56941" y="3189168"/>
            <a:ext cx="1048048" cy="274290"/>
          </a:xfrm>
          <a:prstGeom prst="roundRect">
            <a:avLst>
              <a:gd name="adj" fmla="val 55562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7441" y="3246318"/>
            <a:ext cx="680389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1747" y="3492034"/>
            <a:ext cx="345204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152390" y="3640564"/>
            <a:ext cx="58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2891" y="3829129"/>
            <a:ext cx="616000" cy="274290"/>
          </a:xfrm>
          <a:prstGeom prst="roundRect">
            <a:avLst>
              <a:gd name="adj" fmla="val 55562"/>
            </a:avLst>
          </a:prstGeom>
          <a:solidFill>
            <a:srgbClr val="EAEA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63391" y="3886279"/>
            <a:ext cx="23970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6485" y="4131995"/>
            <a:ext cx="743539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Policy Optimization</a:t>
            </a:r>
            <a:endParaRPr lang="en-US" sz="675" dirty="0"/>
          </a:p>
        </p:txBody>
      </p:sp>
      <p:pic>
        <p:nvPicPr>
          <p:cNvPr id="31" name="图片 30"/>
          <p:cNvPicPr/>
          <p:nvPr/>
        </p:nvPicPr>
        <p:blipFill>
          <a:blip r:embed="rId3"/>
          <a:stretch>
            <a:fillRect/>
          </a:stretch>
        </p:blipFill>
        <p:spPr>
          <a:xfrm>
            <a:off x="6785610" y="2851785"/>
            <a:ext cx="1631315" cy="1631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99446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Reinforcement Learning in Trading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088975"/>
            <a:ext cx="3987757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RL Framework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859459" y="1671786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20191" y="1946077"/>
            <a:ext cx="44038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7435" y="2509986"/>
            <a:ext cx="78619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Trading Strategy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339648" y="2808982"/>
            <a:ext cx="64805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Action aₜ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339648" y="3020318"/>
            <a:ext cx="64805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(Buy/Hold/Sell)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47027" y="2808982"/>
            <a:ext cx="59386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 sₜ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547027" y="3020318"/>
            <a:ext cx="59386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(Market Data)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59459" y="3306068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7914" y="3580358"/>
            <a:ext cx="285089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51839" y="4144268"/>
            <a:ext cx="77724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76316" y="1364159"/>
            <a:ext cx="436757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Concepts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6316" y="1946970"/>
            <a:ext cx="4281934" cy="613321"/>
          </a:xfrm>
          <a:prstGeom prst="roundRect">
            <a:avLst>
              <a:gd name="adj" fmla="val 12424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90616" y="2061270"/>
            <a:ext cx="413440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DQN (Mnih et al., 2015)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90616" y="2286000"/>
            <a:ext cx="41344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Q-function approximation with neural networks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6316" y="2674590"/>
            <a:ext cx="4281934" cy="613321"/>
          </a:xfrm>
          <a:prstGeom prst="roundRect">
            <a:avLst>
              <a:gd name="adj" fmla="val 12424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90616" y="2788890"/>
            <a:ext cx="413440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Experience Replay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0616" y="3013621"/>
            <a:ext cx="41344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Breaks correlation between samples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6316" y="3402211"/>
            <a:ext cx="4281934" cy="613321"/>
          </a:xfrm>
          <a:prstGeom prst="roundRect">
            <a:avLst>
              <a:gd name="adj" fmla="val 12424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0616" y="3516511"/>
            <a:ext cx="413440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Networks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90616" y="3741241"/>
            <a:ext cx="41344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training with separate target network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5750" y="4565452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00025" y="4659630"/>
            <a:ext cx="8743950" cy="198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Advantages: Direct state-to-action mapping • No prediction error accumulation • Adaptive to market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1395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Chaos Theory in Financial Markets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2018556"/>
            <a:ext cx="272034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Chaotic System Characteristics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5750" y="2536627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202" y="2563267"/>
            <a:ext cx="216488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Sensitive dependence on initial conditions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2845147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202" y="2871788"/>
            <a:ext cx="106278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Non-linear dynamics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5750" y="3153668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202" y="3180308"/>
            <a:ext cx="1600629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Deterministic but unpredictable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8500" y="2018556"/>
            <a:ext cx="272034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Lee Oscillator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38500" y="2536627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〰️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3952" y="2563267"/>
            <a:ext cx="1535656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Discrete-time neural oscillator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38500" y="2845147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3952" y="2871788"/>
            <a:ext cx="1412846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Controlled chaotic behavior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38500" y="3153668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3952" y="3180308"/>
            <a:ext cx="15294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Better than sigmoid activation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1250" y="2018556"/>
            <a:ext cx="272034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Retrograde Signaling (LORS)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0" y="2536627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6702" y="2563267"/>
            <a:ext cx="154901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 from output to input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1250" y="2845147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6702" y="2871788"/>
            <a:ext cx="146461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Enhanced temporal memory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1250" y="3153668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⏱️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6702" y="3180308"/>
            <a:ext cx="162036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Long-term dependency capture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5750" y="4513957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00025" y="4671120"/>
            <a:ext cx="874395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= Lee Oscillator + Retrograde Signaling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714649"/>
            <a:ext cx="4177665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Self-Attention Mechanism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5750" y="2259360"/>
            <a:ext cx="4095750" cy="491430"/>
          </a:xfrm>
          <a:prstGeom prst="roundRect">
            <a:avLst>
              <a:gd name="adj" fmla="val 15506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241" y="2411760"/>
            <a:ext cx="386676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Attention(Q,K,V) = softmax(QKᵀ/√dₖ)V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7372" y="3055590"/>
            <a:ext cx="74854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7372" y="3280321"/>
            <a:ext cx="748549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look for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941074" y="3055590"/>
            <a:ext cx="813825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41074" y="3280321"/>
            <a:ext cx="81382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compare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410344" y="3055590"/>
            <a:ext cx="718795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10344" y="3280321"/>
            <a:ext cx="71879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extract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62500" y="1824335"/>
            <a:ext cx="4177665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Advantages over RNN/LSTM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62500" y="2369046"/>
            <a:ext cx="14664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0568" y="2402384"/>
            <a:ext cx="171311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vanishing gradient problem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62500" y="2723257"/>
            <a:ext cx="14664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0568" y="2756595"/>
            <a:ext cx="146780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Long-range dependencies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62500" y="3077468"/>
            <a:ext cx="14664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0568" y="3110805"/>
            <a:ext cx="114445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Parallel computation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285750" y="4327327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85750" y="4446389"/>
            <a:ext cx="874395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 for Financial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5750" y="4697760"/>
            <a:ext cx="874395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attention may miss non-linear relationships → Our solution: LORS integration for chaotic market dynamics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5041"/>
            <a:ext cx="428453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Contributions</a:t>
            </a:r>
            <a:endParaRPr lang="en-US" sz="27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381000" y="1125141"/>
            <a:ext cx="25943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825847" y="1125141"/>
            <a:ext cx="468712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Novel LORS Integration (Pengyue MA)</a:t>
            </a:r>
            <a:endParaRPr lang="en-US" sz="15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825847" y="1468041"/>
            <a:ext cx="468712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 to embed Lee Oscillator Retrograde Signal into Transformer architecture.</a:t>
            </a:r>
            <a:endParaRPr lang="en-US" sz="105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381000" y="1883271"/>
            <a:ext cx="25943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825847" y="1883271"/>
            <a:ext cx="353826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Framework </a:t>
            </a:r>
            <a:r>
              <a:rPr lang="en-US" sz="15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(Zihang ZENG)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825847" y="2226171"/>
            <a:ext cx="353826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trading decision optimization without prediction step.</a:t>
            </a:r>
            <a:endParaRPr lang="en-US" sz="105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381000" y="2641402"/>
            <a:ext cx="25943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825847" y="2641402"/>
            <a:ext cx="362919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Comprehensive Evaluation (Ziqian LU)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825847" y="2984302"/>
            <a:ext cx="3629195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Rigorous anti-leakage protocol with 8 baseline comparisons.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551932"/>
            <a:ext cx="8382000" cy="1266527"/>
          </a:xfrm>
          <a:prstGeom prst="roundRect">
            <a:avLst>
              <a:gd name="adj" fmla="val 6016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" y="3742432"/>
            <a:ext cx="816102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3745" y="4070003"/>
            <a:ext cx="922669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214.9%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63745" y="4481364"/>
            <a:ext cx="922669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Cumulative Return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023324" y="4070003"/>
            <a:ext cx="935724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0.216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023324" y="4481364"/>
            <a:ext cx="93572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Sharpe Ratio (6.9×)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694347" y="4070003"/>
            <a:ext cx="1087073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94347" y="4481364"/>
            <a:ext cx="1087073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Outperforms Baselines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8856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Architecture Overview</a:t>
            </a:r>
            <a:endParaRPr 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45" y="756285"/>
            <a:ext cx="5020945" cy="3930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rs_intuitio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Trading Environment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85750" y="2037606"/>
            <a:ext cx="2730550" cy="0"/>
          </a:xfrm>
          <a:prstGeom prst="line">
            <a:avLst/>
          </a:prstGeom>
          <a:noFill/>
          <a:ln w="19050">
            <a:solidFill>
              <a:srgbClr val="DDA7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85750" y="2161431"/>
            <a:ext cx="278516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 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5750" y="2641402"/>
            <a:ext cx="278516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120-day sliding window, 10 features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3043238"/>
            <a:ext cx="278516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Price Data (5):</a:t>
            </a: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OHLCV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5750" y="3246983"/>
            <a:ext cx="278516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Indicators (5):</a:t>
            </a: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RSI, MACD, BB, Volatility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5750" y="3450729"/>
            <a:ext cx="278516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Normalization:</a:t>
            </a: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MinMax scaling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85750" y="3654475"/>
            <a:ext cx="278516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Holdings:</a:t>
            </a: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Shares, cash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206800" y="1983284"/>
            <a:ext cx="2730550" cy="0"/>
          </a:xfrm>
          <a:prstGeom prst="line">
            <a:avLst/>
          </a:prstGeom>
          <a:noFill/>
          <a:ln w="19050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06800" y="2107109"/>
            <a:ext cx="278516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Action Space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6800" y="2587079"/>
            <a:ext cx="7772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8250" y="2613720"/>
            <a:ext cx="139341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Buy: Use cash to purchase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6800" y="2895600"/>
            <a:ext cx="155448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4450" y="2922240"/>
            <a:ext cx="117952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Hold: Maintain position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6800" y="3204121"/>
            <a:ext cx="7772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8250" y="3230761"/>
            <a:ext cx="108874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Sell: Sell held shares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6800" y="3722191"/>
            <a:ext cx="27851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Limit: One unit per trade for risk control.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27849" y="1910804"/>
            <a:ext cx="273055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127849" y="2034629"/>
            <a:ext cx="278516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Reward Function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7849" y="2514600"/>
            <a:ext cx="2730550" cy="573286"/>
          </a:xfrm>
          <a:prstGeom prst="roundRect">
            <a:avLst>
              <a:gd name="adj" fmla="val 13292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42149" y="2628900"/>
            <a:ext cx="2551989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rₜ = Vₜ - Vₜ₋₁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242149" y="2840236"/>
            <a:ext cx="25519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Change in portfolio value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27849" y="3354586"/>
            <a:ext cx="2730550" cy="573286"/>
          </a:xfrm>
          <a:prstGeom prst="roundRect">
            <a:avLst>
              <a:gd name="adj" fmla="val 13292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42149" y="3468886"/>
            <a:ext cx="2551989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Costₜ = c × |ΔNₜ| × Pₜᶜˡᵒˢᵉ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42149" y="3680222"/>
            <a:ext cx="25519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 cost (c = 10 bps)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256086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Mechanism - Neurodynamics</a:t>
            </a:r>
            <a:endParaRPr lang="en-US" sz="2400" dirty="0"/>
          </a:p>
        </p:txBody>
      </p:sp>
      <p:pic>
        <p:nvPicPr>
          <p:cNvPr id="3" name="Image 0" descr="/home/claude/pptx_project/lors_neurodynamics.png"/>
          <p:cNvPicPr>
            <a:picLocks noChangeAspect="1"/>
          </p:cNvPicPr>
          <p:nvPr/>
        </p:nvPicPr>
        <p:blipFill>
          <a:blip r:embed="rId3"/>
          <a:srcRect l="7117" t="19500" r="5067" b="28650"/>
          <a:stretch>
            <a:fillRect/>
          </a:stretch>
        </p:blipFill>
        <p:spPr>
          <a:xfrm>
            <a:off x="1405255" y="838200"/>
            <a:ext cx="6332855" cy="373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Bifurcation Types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720453"/>
            <a:ext cx="398775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LORS Configurations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5750" y="2200424"/>
            <a:ext cx="398775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LORS#0:</a:t>
            </a: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Original Lee oscillator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2430810"/>
            <a:ext cx="398775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LORS#1-7:</a:t>
            </a:r>
            <a:r>
              <a:rPr lang="en-US" sz="9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Increasing bifurcation parameter μ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985046"/>
            <a:ext cx="398775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Attention-Weighted Combination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5750" y="3465016"/>
            <a:ext cx="3909566" cy="643682"/>
          </a:xfrm>
          <a:prstGeom prst="roundRect">
            <a:avLst>
              <a:gd name="adj" fmla="val 11838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3598366"/>
            <a:ext cx="371572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LORS_combined = Σ wᵢ · LORSᵢ(Attention)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19100" y="3828752"/>
            <a:ext cx="3715723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wᵢ are learned weights for adaptive selection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576316" y="1381274"/>
            <a:ext cx="436757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Bifurcation Diagram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6316" y="1861245"/>
            <a:ext cx="4281934" cy="1139130"/>
          </a:xfrm>
          <a:prstGeom prst="roundRect">
            <a:avLst>
              <a:gd name="adj" fmla="val 6689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7807" y="2051745"/>
            <a:ext cx="3978953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transitions from steady state → period-doubling → chaos as μ increases.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5180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99027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32873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66720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900566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34413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968259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02106" y="2524125"/>
            <a:ext cx="1668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μ=7</a:t>
            </a:r>
            <a:endParaRPr lang="en-US" sz="750" dirty="0"/>
          </a:p>
        </p:txBody>
      </p:sp>
      <p:pic>
        <p:nvPicPr>
          <p:cNvPr id="21" name="Image 0" descr="/tmp/rasterized-gradient-02bb24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816" y="2733675"/>
            <a:ext cx="3900934" cy="76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6316" y="3381375"/>
            <a:ext cx="436757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Lyapunov Exponent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6316" y="3861346"/>
            <a:ext cx="4281934" cy="586532"/>
          </a:xfrm>
          <a:prstGeom prst="roundRect">
            <a:avLst>
              <a:gd name="adj" fmla="val 12992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690616" y="3975646"/>
            <a:ext cx="413440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λ &gt; 0 indicates chaos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4690616" y="4186982"/>
            <a:ext cx="41344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Positive exponent shows sensitive dependence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21722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LORSTransformerDRL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186160"/>
            <a:ext cx="2857500" cy="260896"/>
          </a:xfrm>
          <a:prstGeom prst="roundRect">
            <a:avLst>
              <a:gd name="adj" fmla="val 14604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2623" y="1243310"/>
            <a:ext cx="260375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 (120 x 10)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90688" y="1523256"/>
            <a:ext cx="48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85750" y="1732806"/>
            <a:ext cx="2857500" cy="260896"/>
          </a:xfrm>
          <a:prstGeom prst="roundRect">
            <a:avLst>
              <a:gd name="adj" fmla="val 14604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2623" y="1789956"/>
            <a:ext cx="260375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 Embedding + Position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690688" y="2069902"/>
            <a:ext cx="48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85750" y="2279452"/>
            <a:ext cx="2857500" cy="260896"/>
          </a:xfrm>
          <a:prstGeom prst="roundRect">
            <a:avLst>
              <a:gd name="adj" fmla="val 14604"/>
            </a:avLst>
          </a:prstGeom>
          <a:solidFill>
            <a:srgbClr val="EAEA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2623" y="2336602"/>
            <a:ext cx="260375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 Layer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690688" y="2616547"/>
            <a:ext cx="48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5750" y="2826097"/>
            <a:ext cx="2857500" cy="495151"/>
          </a:xfrm>
          <a:prstGeom prst="roundRect">
            <a:avLst>
              <a:gd name="adj" fmla="val 11542"/>
            </a:avLst>
          </a:prstGeom>
          <a:solidFill>
            <a:srgbClr val="DDA74F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4330" y="2921347"/>
            <a:ext cx="272034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Encoder x3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54330" y="3106043"/>
            <a:ext cx="2720340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 LORS Module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690688" y="3397448"/>
            <a:ext cx="48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5750" y="3606998"/>
            <a:ext cx="2857500" cy="260896"/>
          </a:xfrm>
          <a:prstGeom prst="roundRect">
            <a:avLst>
              <a:gd name="adj" fmla="val 14604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2623" y="3664148"/>
            <a:ext cx="260375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Dual Pooling + Output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690688" y="3944094"/>
            <a:ext cx="48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5750" y="4153644"/>
            <a:ext cx="2857500" cy="260896"/>
          </a:xfrm>
          <a:prstGeom prst="roundRect">
            <a:avLst>
              <a:gd name="adj" fmla="val 14604"/>
            </a:avLst>
          </a:prstGeom>
          <a:solidFill>
            <a:srgbClr val="EAEA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2623" y="4210794"/>
            <a:ext cx="260375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Q-values [Buy, Hold, Sell]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429000" y="1244352"/>
            <a:ext cx="524637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1724323"/>
            <a:ext cx="5143500" cy="586532"/>
          </a:xfrm>
          <a:prstGeom prst="roundRect">
            <a:avLst>
              <a:gd name="adj" fmla="val 9744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43300" y="1838623"/>
            <a:ext cx="501319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Encoder (x3)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543300" y="2049959"/>
            <a:ext cx="501319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attention heads, FFN dim: 256, Dropout: 0.15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429000" y="2406104"/>
            <a:ext cx="5143500" cy="586532"/>
          </a:xfrm>
          <a:prstGeom prst="roundRect">
            <a:avLst>
              <a:gd name="adj" fmla="val 9744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43300" y="2520404"/>
            <a:ext cx="501319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Module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543300" y="2731740"/>
            <a:ext cx="501319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LORS configurations with attention-weighted combination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429000" y="3087886"/>
            <a:ext cx="5143500" cy="586532"/>
          </a:xfrm>
          <a:prstGeom prst="roundRect">
            <a:avLst>
              <a:gd name="adj" fmla="val 9744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43300" y="3202186"/>
            <a:ext cx="501319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Dual Pooling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543300" y="3413522"/>
            <a:ext cx="501319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average + max pooling for robust features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429000" y="3769668"/>
            <a:ext cx="5143500" cy="586532"/>
          </a:xfrm>
          <a:prstGeom prst="roundRect">
            <a:avLst>
              <a:gd name="adj" fmla="val 9744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43300" y="3883968"/>
            <a:ext cx="501319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Layer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3543300" y="4095304"/>
            <a:ext cx="501319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Q-values for Buy/Hold/Sell actions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Attention Mechanism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681460"/>
            <a:ext cx="398775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vs LORS Attention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5750" y="2199531"/>
            <a:ext cx="3909566" cy="586532"/>
          </a:xfrm>
          <a:prstGeom prst="roundRect">
            <a:avLst>
              <a:gd name="adj" fmla="val 12992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2313831"/>
            <a:ext cx="3754585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Standard: Attention(Q,K,V)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00050" y="2525167"/>
            <a:ext cx="37545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softmax(QKᵀ/√d)V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5750" y="2900363"/>
            <a:ext cx="3909566" cy="586532"/>
          </a:xfrm>
          <a:prstGeom prst="roundRect">
            <a:avLst>
              <a:gd name="adj" fmla="val 12992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3014663"/>
            <a:ext cx="3754585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LORS: LORSAttention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00050" y="3225998"/>
            <a:ext cx="37545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LORS(softmax(QKᵀ/√d)V)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576316" y="1149995"/>
            <a:ext cx="436757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Flow Diagram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8685" y="1668066"/>
            <a:ext cx="1137047" cy="260896"/>
          </a:xfrm>
          <a:prstGeom prst="roundRect">
            <a:avLst>
              <a:gd name="adj" fmla="val 14604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01085" y="1725216"/>
            <a:ext cx="84889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 Output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88634" y="1986111"/>
            <a:ext cx="58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34186" y="2203252"/>
            <a:ext cx="555873" cy="209550"/>
          </a:xfrm>
          <a:prstGeom prst="roundRect">
            <a:avLst>
              <a:gd name="adj" fmla="val 18182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29436" y="2241352"/>
            <a:ext cx="37268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LORS#0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66259" y="2203252"/>
            <a:ext cx="555873" cy="209550"/>
          </a:xfrm>
          <a:prstGeom prst="roundRect">
            <a:avLst>
              <a:gd name="adj" fmla="val 18182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61509" y="2241352"/>
            <a:ext cx="37268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LORS#1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98332" y="2203252"/>
            <a:ext cx="555873" cy="209550"/>
          </a:xfrm>
          <a:prstGeom prst="roundRect">
            <a:avLst>
              <a:gd name="adj" fmla="val 18182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93582" y="2241352"/>
            <a:ext cx="37268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LORS#2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530405" y="2203252"/>
            <a:ext cx="269974" cy="209550"/>
          </a:xfrm>
          <a:prstGeom prst="roundRect">
            <a:avLst>
              <a:gd name="adj" fmla="val 18182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5655" y="2241352"/>
            <a:ext cx="8106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...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688634" y="2469952"/>
            <a:ext cx="58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17580" y="2687092"/>
            <a:ext cx="1199257" cy="260896"/>
          </a:xfrm>
          <a:prstGeom prst="roundRect">
            <a:avLst>
              <a:gd name="adj" fmla="val 14604"/>
            </a:avLst>
          </a:prstGeom>
          <a:solidFill>
            <a:srgbClr val="EAEA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9980" y="2744242"/>
            <a:ext cx="91234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 Weights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688634" y="3005138"/>
            <a:ext cx="58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1966" y="3222278"/>
            <a:ext cx="1030635" cy="260896"/>
          </a:xfrm>
          <a:prstGeom prst="roundRect">
            <a:avLst>
              <a:gd name="adj" fmla="val 14604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4366" y="3279428"/>
            <a:ext cx="74035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Weighted Sum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688634" y="3540323"/>
            <a:ext cx="58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0126" y="3757464"/>
            <a:ext cx="1414165" cy="260896"/>
          </a:xfrm>
          <a:prstGeom prst="roundRect">
            <a:avLst>
              <a:gd name="adj" fmla="val 14604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62526" y="3814614"/>
            <a:ext cx="113155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Residual + LayerNorm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285750" y="4353967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85750" y="4473029"/>
            <a:ext cx="874395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Benefits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5750" y="4697760"/>
            <a:ext cx="874395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Combines self-attention with chaotic dynamics • Adaptive LORS configuration selection • Enhanced non-linear pattern capture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DQN Algorithm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64159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Update Rule</a:t>
            </a:r>
          </a:p>
        </p:txBody>
      </p:sp>
      <p:sp>
        <p:nvSpPr>
          <p:cNvPr id="4" name="Text 2"/>
          <p:cNvSpPr/>
          <p:nvPr/>
        </p:nvSpPr>
        <p:spPr>
          <a:xfrm>
            <a:off x="285750" y="1844129"/>
            <a:ext cx="4095750" cy="388590"/>
          </a:xfrm>
          <a:prstGeom prst="roundRect">
            <a:avLst>
              <a:gd name="adj" fmla="val 19609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958429"/>
            <a:ext cx="39444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Q(s,a) ← Q(s,a) + α[r + γ max_a' Q(s',a') - Q(s,a)]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2499420"/>
            <a:ext cx="4095750" cy="388590"/>
          </a:xfrm>
          <a:prstGeom prst="roundRect">
            <a:avLst>
              <a:gd name="adj" fmla="val 19609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613720"/>
            <a:ext cx="39444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Loss: L(θ) = E[(r + γ max Q(s',a';θ⁻) - Q(s,a;θ))²]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5750" y="3230910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750" y="3710880"/>
            <a:ext cx="77739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rate: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5750" y="3889921"/>
            <a:ext cx="77739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4126111"/>
            <a:ext cx="77739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Optimizer: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5750" y="4305151"/>
            <a:ext cx="77739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28899" y="3710880"/>
            <a:ext cx="63484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Discount γ: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28899" y="3889921"/>
            <a:ext cx="63484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28899" y="4126111"/>
            <a:ext cx="63484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Grad clip: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28899" y="4305151"/>
            <a:ext cx="63484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2500" y="1583234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Techniques</a:t>
            </a:r>
          </a:p>
        </p:txBody>
      </p:sp>
      <p:sp>
        <p:nvSpPr>
          <p:cNvPr id="18" name="Text 16"/>
          <p:cNvSpPr/>
          <p:nvPr/>
        </p:nvSpPr>
        <p:spPr>
          <a:xfrm>
            <a:off x="4762500" y="2063204"/>
            <a:ext cx="4095750" cy="651421"/>
          </a:xfrm>
          <a:prstGeom prst="roundRect">
            <a:avLst>
              <a:gd name="adj" fmla="val 11698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95850" y="2196554"/>
            <a:ext cx="390563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Experience Replay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5850" y="2421285"/>
            <a:ext cx="390563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Buffer: 20,000, Batch: 64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62500" y="2828925"/>
            <a:ext cx="4095750" cy="651421"/>
          </a:xfrm>
          <a:prstGeom prst="roundRect">
            <a:avLst>
              <a:gd name="adj" fmla="val 11698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95850" y="2962275"/>
            <a:ext cx="390563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Network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5850" y="3187005"/>
            <a:ext cx="390563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Update every 10 episodes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2500" y="3594646"/>
            <a:ext cx="4095750" cy="651421"/>
          </a:xfrm>
          <a:prstGeom prst="roundRect">
            <a:avLst>
              <a:gd name="adj" fmla="val 11698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5850" y="3727996"/>
            <a:ext cx="390563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ε-Greedy Exploration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5850" y="3952726"/>
            <a:ext cx="390563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ε: 1.0 → 0.01, Decay: 0.995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Anti-Leakage Protocol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785045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Chronological Data Split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3005" y="2826990"/>
            <a:ext cx="232003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60%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3005" y="3006030"/>
            <a:ext cx="232003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Jan 2016 - May 2021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05109" y="2760315"/>
            <a:ext cx="773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 20%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05109" y="2939355"/>
            <a:ext cx="77329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May 2021 - Mar 2023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15639" y="2760315"/>
            <a:ext cx="7732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20%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15639" y="2939355"/>
            <a:ext cx="77329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 2023 - Dec 2024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0" y="1667173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Leakage Prevention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0" y="2185243"/>
            <a:ext cx="130248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5445" y="2211884"/>
            <a:ext cx="197452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Scalers fit on training only, then frozen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2500" y="2493764"/>
            <a:ext cx="130248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5445" y="2520404"/>
            <a:ext cx="181452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Rolling statistics use only past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2500" y="2802285"/>
            <a:ext cx="130248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5445" y="2828925"/>
            <a:ext cx="214530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selection by validation Sharpe only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2500" y="3110805"/>
            <a:ext cx="130248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5445" y="3137446"/>
            <a:ext cx="204784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Single-pass test evaluation (no refitting)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5750" y="4176861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85750" y="4348163"/>
            <a:ext cx="7575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*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4315" y="4295924"/>
            <a:ext cx="28328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Consistency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4315" y="4520654"/>
            <a:ext cx="2832827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 cost c = 10 bps, identical in training and testing.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85750" y="1719411"/>
            <a:ext cx="2730550" cy="0"/>
          </a:xfrm>
          <a:prstGeom prst="line">
            <a:avLst/>
          </a:prstGeom>
          <a:noFill/>
          <a:ln w="19050">
            <a:solidFill>
              <a:srgbClr val="DDA7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85750" y="1843236"/>
            <a:ext cx="278516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5750" y="2323207"/>
            <a:ext cx="2730550" cy="535186"/>
          </a:xfrm>
          <a:prstGeom prst="roundRect">
            <a:avLst>
              <a:gd name="adj" fmla="val 10679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418457"/>
            <a:ext cx="259085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Dow Jones Industrial Average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629793"/>
            <a:ext cx="259085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^DJI ticker symbol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5750" y="2953643"/>
            <a:ext cx="2730550" cy="535186"/>
          </a:xfrm>
          <a:prstGeom prst="roundRect">
            <a:avLst>
              <a:gd name="adj" fmla="val 10679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3048893"/>
            <a:ext cx="259085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Period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260229"/>
            <a:ext cx="259085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Jan 2016 - Jan 2025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5750" y="3584079"/>
            <a:ext cx="2730550" cy="535186"/>
          </a:xfrm>
          <a:prstGeom prst="roundRect">
            <a:avLst>
              <a:gd name="adj" fmla="val 10679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3679329"/>
            <a:ext cx="259085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3890665"/>
            <a:ext cx="259085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2,518 trading days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6800" y="2234654"/>
            <a:ext cx="2730550" cy="0"/>
          </a:xfrm>
          <a:prstGeom prst="line">
            <a:avLst/>
          </a:prstGeom>
          <a:noFill/>
          <a:ln w="19050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06800" y="2358479"/>
            <a:ext cx="278516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(10D)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6800" y="2838450"/>
            <a:ext cx="278516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Price Data (5):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6800" y="3036540"/>
            <a:ext cx="278516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Open, High, Low, Close, Volume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206800" y="3259336"/>
            <a:ext cx="278516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Indicators (5):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6800" y="3457426"/>
            <a:ext cx="278516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RSI, MACD, BB_High, BB_Low, Volatility (20d)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6127849" y="1719411"/>
            <a:ext cx="273055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27849" y="1843236"/>
            <a:ext cx="278516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Config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7849" y="2323207"/>
            <a:ext cx="2730550" cy="535186"/>
          </a:xfrm>
          <a:prstGeom prst="roundRect">
            <a:avLst>
              <a:gd name="adj" fmla="val 10679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23099" y="2418457"/>
            <a:ext cx="259085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 Episodes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223099" y="2629793"/>
            <a:ext cx="259085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 (Early stop: 15)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27849" y="2953643"/>
            <a:ext cx="2730550" cy="535186"/>
          </a:xfrm>
          <a:prstGeom prst="roundRect">
            <a:avLst>
              <a:gd name="adj" fmla="val 10679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23099" y="3048893"/>
            <a:ext cx="259085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Initial Capital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223099" y="3260229"/>
            <a:ext cx="259085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$1,000,000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27849" y="3584079"/>
            <a:ext cx="2730550" cy="535186"/>
          </a:xfrm>
          <a:prstGeom prst="roundRect">
            <a:avLst>
              <a:gd name="adj" fmla="val 10679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23099" y="3679329"/>
            <a:ext cx="259085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Selection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223099" y="3890665"/>
            <a:ext cx="259085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 Sharpe ratio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22127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507927"/>
            <a:ext cx="278516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Recurrent Networks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1961257"/>
            <a:ext cx="2730550" cy="312390"/>
          </a:xfrm>
          <a:prstGeom prst="roundRect">
            <a:avLst>
              <a:gd name="adj" fmla="val 12196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2037457"/>
            <a:ext cx="26297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LSTM_DQN:</a:t>
            </a:r>
            <a:r>
              <a:rPr lang="en-US" sz="9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Basic LSTM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2349847"/>
            <a:ext cx="2730550" cy="312390"/>
          </a:xfrm>
          <a:prstGeom prst="roundRect">
            <a:avLst>
              <a:gd name="adj" fmla="val 12196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1950" y="2426047"/>
            <a:ext cx="26297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GRU_DQN:</a:t>
            </a:r>
            <a:r>
              <a:rPr lang="en-US" sz="9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Gated Recurrent Unit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6800" y="1507927"/>
            <a:ext cx="278516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CNN/MLP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6800" y="1961257"/>
            <a:ext cx="2730550" cy="312390"/>
          </a:xfrm>
          <a:prstGeom prst="roundRect">
            <a:avLst>
              <a:gd name="adj" fmla="val 12196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83000" y="2037457"/>
            <a:ext cx="26297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CNN_DQN: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1D Convolutional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6800" y="2349847"/>
            <a:ext cx="2730550" cy="312390"/>
          </a:xfrm>
          <a:prstGeom prst="roundRect">
            <a:avLst>
              <a:gd name="adj" fmla="val 12196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83000" y="2426047"/>
            <a:ext cx="26297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DQN_MLP: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Multi-layer Perceptron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7849" y="1507927"/>
            <a:ext cx="278516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Transformer-based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7849" y="1961257"/>
            <a:ext cx="2730550" cy="312390"/>
          </a:xfrm>
          <a:prstGeom prst="roundRect">
            <a:avLst>
              <a:gd name="adj" fmla="val 12196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04049" y="2037457"/>
            <a:ext cx="26297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Transformer_DQN:</a:t>
            </a:r>
            <a:r>
              <a:rPr lang="en-US" sz="9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LORS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7849" y="2349847"/>
            <a:ext cx="2730550" cy="312390"/>
          </a:xfrm>
          <a:prstGeom prst="roundRect">
            <a:avLst>
              <a:gd name="adj" fmla="val 12196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4049" y="2426047"/>
            <a:ext cx="26297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AttentionLSTM_DQN:</a:t>
            </a:r>
            <a:r>
              <a:rPr lang="en-US" sz="9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 + Attention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5750" y="3048000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85750" y="3205163"/>
            <a:ext cx="408051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Ablation Baselines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750" y="3639443"/>
            <a:ext cx="4000500" cy="312390"/>
          </a:xfrm>
          <a:prstGeom prst="roundRect">
            <a:avLst>
              <a:gd name="adj" fmla="val 12196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1950" y="3715643"/>
            <a:ext cx="392506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ChaoticRNN_DQN:</a:t>
            </a:r>
            <a:r>
              <a:rPr lang="en-US" sz="9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Chaos (no retrograde)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5750" y="4008983"/>
            <a:ext cx="4000500" cy="312390"/>
          </a:xfrm>
          <a:prstGeom prst="roundRect">
            <a:avLst>
              <a:gd name="adj" fmla="val 12196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950" y="4085183"/>
            <a:ext cx="392506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LORSTransformer:</a:t>
            </a:r>
            <a:r>
              <a:rPr lang="en-US" sz="9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+ Transformer (no DRL)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7250" y="3389858"/>
            <a:ext cx="408051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Lower Bound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7250" y="3824139"/>
            <a:ext cx="4000500" cy="312390"/>
          </a:xfrm>
          <a:prstGeom prst="roundRect">
            <a:avLst>
              <a:gd name="adj" fmla="val 12196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3450" y="3900339"/>
            <a:ext cx="392506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Random:</a:t>
            </a: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Random action baseline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226344"/>
            <a:ext cx="427482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Risk-Return Metrics (Table I)</a:t>
            </a:r>
          </a:p>
        </p:txBody>
      </p:sp>
      <p:sp>
        <p:nvSpPr>
          <p:cNvPr id="4" name="Text 2"/>
          <p:cNvSpPr/>
          <p:nvPr/>
        </p:nvSpPr>
        <p:spPr>
          <a:xfrm>
            <a:off x="285750" y="1706314"/>
            <a:ext cx="4191000" cy="548432"/>
          </a:xfrm>
          <a:prstGeom prst="roundRect">
            <a:avLst>
              <a:gd name="adj" fmla="val 10421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01564"/>
            <a:ext cx="408051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Cumulative Return (CR)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012900"/>
            <a:ext cx="408051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 = (V_T / V_0 - 1) × 100%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5750" y="2349996"/>
            <a:ext cx="4191000" cy="548432"/>
          </a:xfrm>
          <a:prstGeom prst="roundRect">
            <a:avLst>
              <a:gd name="adj" fmla="val 10421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2445246"/>
            <a:ext cx="408051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Sharpe Ratio (SR)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656582"/>
            <a:ext cx="408051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SR = (r̄ - r_f) / σ(r)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85750" y="2993678"/>
            <a:ext cx="4191000" cy="548432"/>
          </a:xfrm>
          <a:prstGeom prst="roundRect">
            <a:avLst>
              <a:gd name="adj" fmla="val 10421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3088928"/>
            <a:ext cx="408051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Maximum Drawdown (MDD)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300264"/>
            <a:ext cx="408051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MDD = max[1 - V_t / max(V_s)] × 100%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85750" y="3637359"/>
            <a:ext cx="4191000" cy="548432"/>
          </a:xfrm>
          <a:prstGeom prst="roundRect">
            <a:avLst>
              <a:gd name="adj" fmla="val 10421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1000" y="3732609"/>
            <a:ext cx="408051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Win Rate (WR)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3943945"/>
            <a:ext cx="408051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 = # profitable trades / # total trades × 100%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57750" y="1433810"/>
            <a:ext cx="408051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Trading Behavior Metrics (Table II)</a:t>
            </a:r>
          </a:p>
        </p:txBody>
      </p:sp>
      <p:sp>
        <p:nvSpPr>
          <p:cNvPr id="17" name="Text 15"/>
          <p:cNvSpPr/>
          <p:nvPr/>
        </p:nvSpPr>
        <p:spPr>
          <a:xfrm>
            <a:off x="4857750" y="1913781"/>
            <a:ext cx="4000500" cy="624632"/>
          </a:xfrm>
          <a:prstGeom prst="roundRect">
            <a:avLst>
              <a:gd name="adj" fmla="val 9149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1100" y="2047131"/>
            <a:ext cx="380847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Holding Time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91100" y="2258467"/>
            <a:ext cx="380847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Days per position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57750" y="2633663"/>
            <a:ext cx="4000500" cy="624632"/>
          </a:xfrm>
          <a:prstGeom prst="roundRect">
            <a:avLst>
              <a:gd name="adj" fmla="val 9149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91100" y="2767013"/>
            <a:ext cx="380847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 Frequency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91100" y="2978348"/>
            <a:ext cx="380847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Trades per month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57750" y="3353544"/>
            <a:ext cx="4000500" cy="624632"/>
          </a:xfrm>
          <a:prstGeom prst="roundRect">
            <a:avLst>
              <a:gd name="adj" fmla="val 9149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91100" y="3486894"/>
            <a:ext cx="380847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Per-Trade Return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991100" y="3698230"/>
            <a:ext cx="380847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Percentage gain per trade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285750" y="4597747"/>
            <a:ext cx="8572500" cy="0"/>
          </a:xfrm>
          <a:prstGeom prst="line">
            <a:avLst/>
          </a:prstGeom>
          <a:noFill/>
          <a:ln w="9525">
            <a:solidFill>
              <a:srgbClr val="6E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00025" y="4697760"/>
            <a:ext cx="874395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4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metrics computed on test set only, with transaction costs applied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Results - Table 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4442520"/>
            <a:ext cx="8572500" cy="415230"/>
          </a:xfrm>
          <a:prstGeom prst="roundRect">
            <a:avLst>
              <a:gd name="adj" fmla="val 18351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6611" y="4556820"/>
            <a:ext cx="8510778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Finding: 6.9× Sharpe improvement over non-retrograde baseline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285750" y="1011585"/>
          <a:ext cx="8572500" cy="3048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</a:rPr>
                        <a:t>CR (%)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</a:rPr>
                        <a:t>MDD (%)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</a:rPr>
                        <a:t>Win (%)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A74F"/>
                          </a:solidFill>
                        </a:rPr>
                        <a:t>LORSTransformerDRL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A74F"/>
                          </a:solidFill>
                        </a:rPr>
                        <a:t>214.9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A74F"/>
                          </a:solidFill>
                        </a:rPr>
                        <a:t>0.216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A74F"/>
                          </a:solidFill>
                        </a:rPr>
                        <a:t>42.3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A74F"/>
                          </a:solidFill>
                        </a:rPr>
                        <a:t>58.3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CNN_DQN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197.1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0.162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47.9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54.9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DQN_MLP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133.9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0.186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42.3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54.1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Transformer_DQN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135.1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0.107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51.2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55.9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ChaoticRNN_DQN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84.5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0.123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46.8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57.5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Random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-73.4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0.114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51.2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54.9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GRU_DQN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-22.6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0.046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39.7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56.0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LORSTransformer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-67.2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0.031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35.6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52.9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LSTM_DQN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-72.0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0.029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28.9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EAEA"/>
                          </a:solidFill>
                        </a:rPr>
                        <a:t>56.2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7197090" y="2571750"/>
            <a:ext cx="1631315" cy="16313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14921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Multi-Metric Comparison (Figure 2)</a:t>
            </a:r>
            <a:endParaRPr 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" y="909955"/>
            <a:ext cx="6685280" cy="37515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68287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Risk-Return Trade-off (Figure 3)</a:t>
            </a:r>
            <a:endParaRPr 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155" y="869315"/>
            <a:ext cx="5139690" cy="38074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96462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Dynamics (Figure 4)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144935"/>
            <a:ext cx="427482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4a: Cumulative Return Trajectories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67250" y="1144935"/>
            <a:ext cx="427482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4b: Drawdown Trajectories</a:t>
            </a:r>
            <a:endParaRPr lang="en-US" sz="105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624330"/>
            <a:ext cx="3681730" cy="2716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1624330"/>
            <a:ext cx="3712210" cy="27247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Ablation Study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652736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Component Contributions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5750" y="2170807"/>
            <a:ext cx="4095750" cy="592336"/>
          </a:xfrm>
          <a:prstGeom prst="roundRect">
            <a:avLst>
              <a:gd name="adj" fmla="val 12864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2285107"/>
            <a:ext cx="105276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Ours vs no-LORS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405932" y="2291655"/>
            <a:ext cx="87849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ΔSharpe: +0.109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0050" y="2515493"/>
            <a:ext cx="39444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Transformer_DQN baseline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5750" y="2877443"/>
            <a:ext cx="4095750" cy="592336"/>
          </a:xfrm>
          <a:prstGeom prst="roundRect">
            <a:avLst>
              <a:gd name="adj" fmla="val 12864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2991743"/>
            <a:ext cx="137565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Ours vs no-Retrograde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405932" y="2998291"/>
            <a:ext cx="87849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ΔSharpe: +0.093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0050" y="3222129"/>
            <a:ext cx="39444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ChaoticRNN_DQN baseline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5750" y="3584079"/>
            <a:ext cx="4095750" cy="592336"/>
          </a:xfrm>
          <a:prstGeom prst="roundRect">
            <a:avLst>
              <a:gd name="adj" fmla="val 12864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3698379"/>
            <a:ext cx="96153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Ours vs no-DRL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405932" y="3704927"/>
            <a:ext cx="87849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ΔSharpe: +0.185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0050" y="3928765"/>
            <a:ext cx="39444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LORSTransformer baseline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62500" y="1781324"/>
            <a:ext cx="417766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0" y="2299395"/>
            <a:ext cx="4095750" cy="506611"/>
          </a:xfrm>
          <a:prstGeom prst="roundRect">
            <a:avLst>
              <a:gd name="adj" fmla="val 15041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5850" y="2432745"/>
            <a:ext cx="14664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53918" y="2466082"/>
            <a:ext cx="285635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contributes most to Sharpe improvement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62500" y="2920305"/>
            <a:ext cx="4095750" cy="506611"/>
          </a:xfrm>
          <a:prstGeom prst="roundRect">
            <a:avLst>
              <a:gd name="adj" fmla="val 15041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5850" y="3053655"/>
            <a:ext cx="14664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53918" y="3086993"/>
            <a:ext cx="2582805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Retrograde signaling improves risk control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62500" y="3541216"/>
            <a:ext cx="4095750" cy="506611"/>
          </a:xfrm>
          <a:prstGeom prst="roundRect">
            <a:avLst>
              <a:gd name="adj" fmla="val 15041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5850" y="3674566"/>
            <a:ext cx="14664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53918" y="3707904"/>
            <a:ext cx="175243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DRL is necessary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285750" y="1518345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438150" y="1670745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856804" y="1670745"/>
            <a:ext cx="274113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 Asset Evaluation</a:t>
            </a:r>
            <a:endParaRPr lang="en-US" sz="12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856804" y="1960215"/>
            <a:ext cx="274113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Only tested on DJI. Multi-asset portfolio not explored.</a:t>
            </a:r>
            <a:endParaRPr lang="en-US" sz="9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4476750" y="1518345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4629150" y="1670745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5047804" y="1670745"/>
            <a:ext cx="2592369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5047804" y="1960215"/>
            <a:ext cx="2592369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Single-seed results. Confidence intervals pending.</a:t>
            </a:r>
            <a:endParaRPr lang="en-US" sz="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285750" y="3556695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38150" y="3709095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856804" y="3709095"/>
            <a:ext cx="290311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Extreme Market Conditions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856804" y="3998565"/>
            <a:ext cx="29031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Flash crashes not fully tested. Need more stress testing.</a:t>
            </a:r>
            <a:endParaRPr lang="en-US" sz="90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4476750" y="3556695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4629150" y="3709095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5047804" y="3709095"/>
            <a:ext cx="288383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Complexity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5047804" y="3998565"/>
            <a:ext cx="288383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Many parameters. LORS adds computational overhead.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178570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330970"/>
            <a:ext cx="23317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100" y="1330970"/>
            <a:ext cx="250113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Multi-Asset Portfolio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1620441"/>
            <a:ext cx="250113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Multiple stocks, ETFs, and portfolio optimization.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76750" y="1178570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29150" y="1330970"/>
            <a:ext cx="23317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91100" y="1330970"/>
            <a:ext cx="252739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Statistical Robustness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91100" y="1620441"/>
            <a:ext cx="2527396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Multi-seed experiments and confidence intervals.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537371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EAEAE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689771"/>
            <a:ext cx="23317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0100" y="2689771"/>
            <a:ext cx="274751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Adaptive LORS Parameters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" y="2979241"/>
            <a:ext cx="274751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Learnable bifurcation parameters for market regimes.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76750" y="2537371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29150" y="2689771"/>
            <a:ext cx="23317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91100" y="2689771"/>
            <a:ext cx="249521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Deployment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1100" y="2979241"/>
            <a:ext cx="249521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Latency optimization and live trading integration.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896171"/>
            <a:ext cx="4000500" cy="754261"/>
          </a:xfrm>
          <a:prstGeom prst="roundRect">
            <a:avLst>
              <a:gd name="adj" fmla="val 10103"/>
            </a:avLst>
          </a:prstGeom>
          <a:solidFill>
            <a:srgbClr val="6E7A8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8150" y="4048571"/>
            <a:ext cx="23317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100" y="4048571"/>
            <a:ext cx="270242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Interpretability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0100" y="4338042"/>
            <a:ext cx="270242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LORS activation analysis and attention visualization.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732" y="466874"/>
            <a:ext cx="428453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4950" y="1266974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07656" y="1404164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6735" y="2028974"/>
            <a:ext cx="252603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Novel LORS Integration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6735" y="2318445"/>
            <a:ext cx="252603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 to embed Lee Oscillator Retrograde Signal into Transformer architecture.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7200" y="1266974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E7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3876" y="1404164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08985" y="2028974"/>
            <a:ext cx="252603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8985" y="2318445"/>
            <a:ext cx="252603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trading decision optimization without prediction step.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9450" y="1266974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EAEA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60096" y="1404164"/>
            <a:ext cx="29101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A1D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71235" y="2028974"/>
            <a:ext cx="252603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Comprehensive Evaluation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71235" y="2318445"/>
            <a:ext cx="252603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Rigorous anti-leakage protocol with 8 baseline comparisons.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095625"/>
            <a:ext cx="8382000" cy="1581001"/>
          </a:xfrm>
          <a:prstGeom prst="roundRect">
            <a:avLst>
              <a:gd name="adj" fmla="val 4820"/>
            </a:avLst>
          </a:prstGeom>
          <a:solidFill>
            <a:srgbClr val="DDA74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352" y="3324225"/>
            <a:ext cx="8083296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DA7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Results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90663" y="3716536"/>
            <a:ext cx="1318120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214.9%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90663" y="4288036"/>
            <a:ext cx="131812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Cumulative Return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26373" y="3716536"/>
            <a:ext cx="102073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0.216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26373" y="4288036"/>
            <a:ext cx="102073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Sharpe Ratio (6.9×)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65994" y="3716536"/>
            <a:ext cx="1185898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665994" y="4288036"/>
            <a:ext cx="118589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Outperforms Baselines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069" y="1092547"/>
            <a:ext cx="3327862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 for Your Listenning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20695" y="3032760"/>
            <a:ext cx="3096260" cy="76200"/>
          </a:xfrm>
          <a:prstGeom prst="rect">
            <a:avLst/>
          </a:prstGeom>
          <a:solidFill>
            <a:srgbClr val="DDA74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172960" y="3409950"/>
            <a:ext cx="1631315" cy="16313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51735" y="3755390"/>
            <a:ext cx="4239895" cy="941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Pengyue MA 2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230026119</a:t>
            </a:r>
            <a:b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</a:b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Zihang ZENG 2230026204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Ziqian LU 22300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26112</a:t>
            </a:r>
          </a:p>
          <a:p>
            <a:pPr marL="0" indent="0" algn="ctr">
              <a:lnSpc>
                <a:spcPts val="1470"/>
              </a:lnSpc>
              <a:buNone/>
            </a:pP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lnSpc>
                <a:spcPts val="147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Beijing Normal-Hong Kong Baptist University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172960" y="3409950"/>
            <a:ext cx="1631315" cy="163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620" y="90805"/>
            <a:ext cx="27711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</a:t>
            </a:r>
            <a:endParaRPr lang="en-US" sz="2700" dirty="0"/>
          </a:p>
        </p:txBody>
      </p:sp>
      <p:sp>
        <p:nvSpPr>
          <p:cNvPr id="5" name="文本框 4"/>
          <p:cNvSpPr txBox="1"/>
          <p:nvPr/>
        </p:nvSpPr>
        <p:spPr>
          <a:xfrm>
            <a:off x="370205" y="577215"/>
            <a:ext cx="8700135" cy="4311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solidFill>
                  <a:schemeClr val="bg1"/>
                </a:solidFill>
              </a:rPr>
              <a:t>[1] R. S. T. Lee, “Chaotic type-2 transient-fuzzy deep neuro_x0002_oscillatory network (CT2TFDNN) for worldwide financial pre_x0002_diction,” IEEE Transactions on Fuzzy Systems, vol. 28, no. 4, pp. 731–745, 2020.</a:t>
            </a:r>
          </a:p>
          <a:p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[2] M. J. Page et al., “The PRISMA 2020 statement: An updated guideline for reporting systematic reviews,” BMJ, vol. 372, p.n71, 2021.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[3] Z. Shi, Y. Hu, G. Mo, and J. Wu, “Attention-based CNN-LSTM and XGBoost hybrid model for stock prediction,” 2023. [Online]. Available: https://arxiv.org/abs/2204.02623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[4] C. Wang, J. Ren, H. Liang, J. Gong, and B. Wang, “Conducting stock market index prediction via the localized spatial–temporal convolutional network,” Computers and Electrical Engineering, vol. 108, p. 108687, 2023. [Online]. Available: https://www.sci-encedirect.com/science/article/pii/S0045790623001118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[5] A. A. Ariyo, A. O. Adewumi, and C. K. Ayo, “Stock price prediction using the ARIMA model,” in 2014 UKSim-AMSS</a:t>
            </a: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16th International Conference on Computer Modelling and Simulation, 2014, pp. 106–112.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[6] A. Daryl, Winata, S. Kumara, and D. Suhartono, “Predicting stock market prices using time series SARIMA,” in 2021 1st</a:t>
            </a: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International Conference on Computer Science and Artificial Intelligence (ICCSAI), vol. 1, 2021, pp. 92–99.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[7] P. Tang, C. Tang, and K. Wang, “Stock movement prediction: A multi-input LSTM approach,” Journal of Forecasting, vol. 43,</a:t>
            </a: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</a:rPr>
              <a:t>no. 5, pp. 1199–1211, 2024. [Online]. Available: https://onlineli-brary.wiley.com/doi/abs/10.1002/for.3071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172960" y="3409950"/>
            <a:ext cx="1631315" cy="163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620" y="90805"/>
            <a:ext cx="27711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</a:t>
            </a:r>
            <a:endParaRPr lang="en-US" sz="2700" dirty="0"/>
          </a:p>
        </p:txBody>
      </p:sp>
      <p:sp>
        <p:nvSpPr>
          <p:cNvPr id="2" name="文本框 1"/>
          <p:cNvSpPr txBox="1"/>
          <p:nvPr/>
        </p:nvSpPr>
        <p:spPr>
          <a:xfrm>
            <a:off x="309880" y="587375"/>
            <a:ext cx="858266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  <a:sym typeface="+mn-ea"/>
              </a:rPr>
              <a:t>[8] T. Li, Z. Liu, Y. Shen, X. Wang, H. Chen, and S. Huang, “Mas_x0002_ter: Market-guided stock transformer for stock price forecast_x0002_ing,” Proceedings of the AAAI Conference on Artificial Intelli_x0002_gence, vol. 38, no. 1, pp. 162–170, Mar. 2024. [Online]. Available: https://ojs.aaai.org/index.php/AAAI/article/view/27767</a:t>
            </a:r>
          </a:p>
          <a:p>
            <a:pPr algn="l">
              <a:buClrTx/>
              <a:buSzTx/>
              <a:buFontTx/>
            </a:pPr>
            <a:endParaRPr lang="en-US" altLang="zh-CN" sz="1200">
              <a:solidFill>
                <a:schemeClr val="bg1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  <a:sym typeface="+mn-ea"/>
              </a:rPr>
              <a:t>[9] V. Mnih et al., “Human-level control through deep reinforce_x0002_ment learning,” Nature, vol. 518, no. 7540, pp. 529–533, Feb.</a:t>
            </a:r>
            <a:endParaRPr lang="en-US" altLang="zh-CN" sz="12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olidFill>
                  <a:schemeClr val="bg1"/>
                </a:solidFill>
                <a:sym typeface="+mn-ea"/>
              </a:rPr>
              <a:t>2015. [Online]. Available: https://doi.org/10.1038/nature14236</a:t>
            </a:r>
            <a:endParaRPr lang="en-US" altLang="zh-CN" sz="1200">
              <a:solidFill>
                <a:schemeClr val="bg1"/>
              </a:solidFill>
            </a:endParaRPr>
          </a:p>
          <a:p>
            <a:endParaRPr lang="en-US" altLang="zh-CN" sz="1200">
              <a:solidFill>
                <a:schemeClr val="bg1"/>
              </a:solidFill>
              <a:sym typeface="+mn-ea"/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[10] K. Cho, B. van Merrienboer, C. Gulcehre, D. Bah_x0002_danau, F. Bougares, H. Schwenk, and Y. Bengio, “Learn_x0002_ing phrase representations using RNN encoder-decoder for statistical machine translation,” 2014. [Online]. Available: https://arxiv.org/abs/1406.1078</a:t>
            </a:r>
          </a:p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[11] G. L. Gil, P. Duhamel-Sebline, and A. McCarren, “An evalua_x0002_tion of deep learning models for stock market trend prediction,”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2024. [Online]. Available: https://arxiv.org/abs/2408.12408</a:t>
            </a:r>
          </a:p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[12] P. Singh, M. Jha, and H. Patel, “Wavelet-enhanced deep learning ensemble for accurate stock market forecasting: A case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study of Nifty 50 index,” IEEE Access, pp. 1–1, 2025.</a:t>
            </a:r>
          </a:p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[13] A. Vaswani et al., “Attention is all you need,” in Advances in Neural Information Processing Systems, vol. 30. Curran Associates, Inc., 2017. [Online]. Available: https://proceedings.neurips.cc/paper_files/pa_x0002_per/2017/file/3f5ee243547dee91fbd053c1c4a845aa-Paper.pdf</a:t>
            </a:r>
          </a:p>
          <a:p>
            <a:endParaRPr lang="en-US" altLang="zh-CN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172960" y="3409950"/>
            <a:ext cx="1631315" cy="163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620" y="90805"/>
            <a:ext cx="27711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</a:t>
            </a:r>
            <a:endParaRPr lang="en-US" sz="2700" dirty="0"/>
          </a:p>
        </p:txBody>
      </p:sp>
      <p:sp>
        <p:nvSpPr>
          <p:cNvPr id="2" name="文本框 1"/>
          <p:cNvSpPr txBox="1"/>
          <p:nvPr/>
        </p:nvSpPr>
        <p:spPr>
          <a:xfrm>
            <a:off x="280670" y="544195"/>
            <a:ext cx="858266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[14] W. F. Sharpe, “The Sharpe ratio,” in The Journal of Portfolio Management, Fall 1994, pp. 169–178. Prince_x0002_ton University Press, Princeton, 1998. [Online]. Available: https://doi.org/10.1515/9781400829408-022</a:t>
            </a:r>
          </a:p>
          <a:p>
            <a:endParaRPr lang="en-US" altLang="zh-CN" sz="1200">
              <a:solidFill>
                <a:schemeClr val="bg1"/>
              </a:solidFill>
              <a:sym typeface="+mn-ea"/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[15] D. M. Q. Nelson, A. C. M. Pereira, and R. A. de Oliveira, “Stock market’s price movement prediction with LSTM neural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networks,” in 2017 International Joint Conference on Neural Networks (IJCNN), 2017, pp. 1419–1426.</a:t>
            </a:r>
          </a:p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[16] Y. Lecun, L. Bottou, Y. Bengio, and P. Haffner, “Gradient_x0002_based learning applied to document recognition,” Proceedings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of the IEEE, vol. 86, no. 11, pp. 2278–2324, 1998.</a:t>
            </a:r>
          </a:p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[17] R. D. Riley, J. P. T. Higgins, and J. J. Deeks, “Interpretation of random effects meta-analyses,” BMJ, vol. 342, 2011. [Online]. Available: https://www.bmj.com/content/342/bmj.d549</a:t>
            </a:r>
            <a:endParaRPr lang="en-US" altLang="zh-CN" sz="1200">
              <a:solidFill>
                <a:schemeClr val="bg1"/>
              </a:solidFill>
            </a:endParaRPr>
          </a:p>
          <a:p>
            <a:endParaRPr lang="en-US" altLang="zh-CN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17181102362204,&quot;left&quot;:30,&quot;top&quot;:143.41409448818897,&quot;width&quot;:560.931338582677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1.08590551181103,&quot;left&quot;:30,&quot;top&quot;:88.59377952755906,&quot;width&quot;:404.092047244094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89062992125986,&quot;left&quot;:22.5,&quot;top&quot;:119.55472440944882,&quot;width&quot;:6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2710</Words>
  <Application>Microsoft Macintosh PowerPoint</Application>
  <PresentationFormat>全屏显示(16:9)</PresentationFormat>
  <Paragraphs>531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LORSTransformerDRL: A Novel Deep Reinforcement Learning Framework</dc:title>
  <dc:subject>Intelligent Stock Trading with Chaotic Oscillators</dc:subject>
  <dc:creator>LORSTransformerDRL Research Team</dc:creator>
  <cp:lastModifiedBy>#MA PENGYUE#</cp:lastModifiedBy>
  <cp:revision>21</cp:revision>
  <dcterms:created xsi:type="dcterms:W3CDTF">2025-12-01T14:55:00Z</dcterms:created>
  <dcterms:modified xsi:type="dcterms:W3CDTF">2025-12-04T09:03:47Z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D88E3D1DBD804E388AEFD9F2342818A8_12</vt:lpwstr>
  </property>
  <property fmtid="{D5CDD505-2E9C-101B-9397-08002B2CF9AE}" pid="3" name="KSOProductBuildVer">
    <vt:lpwstr>2052-12.1.0.24034</vt:lpwstr>
  </property>
</Properties>
</file>